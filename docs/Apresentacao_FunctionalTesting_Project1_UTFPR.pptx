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embeddedFontLst>
    <p:embeddedFont>
      <p:font typeface="Play"/>
      <p:regular r:id="rId15"/>
      <p:bold r:id="rId1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Play-regular.fntdata"/><Relationship Id="rId14" Type="http://schemas.openxmlformats.org/officeDocument/2006/relationships/slide" Target="slides/slide10.xml"/><Relationship Id="rId16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is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600200" y="537210"/>
            <a:ext cx="9144000" cy="253873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b="1" lang="en-US" sz="4400"/>
              <a:t>Functional Testing em Sistemas Embarcados</a:t>
            </a:r>
            <a:br>
              <a:rPr b="1" lang="en-US" sz="4400"/>
            </a:br>
            <a:r>
              <a:rPr b="1" lang="en-US" sz="4400"/>
              <a:t>Estudo de Caso: Mortgage Testing Lab (Project #1)</a:t>
            </a:r>
            <a:endParaRPr/>
          </a:p>
        </p:txBody>
      </p:sp>
      <p:sp>
        <p:nvSpPr>
          <p:cNvPr id="85" name="Google Shape;85;p13"/>
          <p:cNvSpPr txBox="1"/>
          <p:nvPr>
            <p:ph idx="1" type="subTitle"/>
          </p:nvPr>
        </p:nvSpPr>
        <p:spPr>
          <a:xfrm>
            <a:off x="1600200" y="3431166"/>
            <a:ext cx="9574530" cy="24504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Osvaldo Janeri Filho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Marcos Klosowski Junior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Programa de Pós-Graduação em Engenharia Elétrica - PPGEE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Universidade Tecnológica Federal do Paraná - Campus Ponta Grossa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Prof. Max Mauro Dias Santos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0" y="6489700"/>
            <a:ext cx="6096000" cy="3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22/09/2026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/>
        </p:nvSpPr>
        <p:spPr>
          <a:xfrm>
            <a:off x="781050" y="39401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Contexto e Problema 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786008" y="1413475"/>
            <a:ext cx="9563100" cy="3609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Softwares embarcados e automotivos exigem alta confiabilidade; falhas em funções críticas (ex.: frenagem, ECUs) têm custo elevado.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Testes puramente nominais geram falsa confiança: aprovam código com defeitos de fronteira e validação de entrada ausente.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032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</a:pPr>
            <a:r>
              <a:t/>
            </a:r>
            <a:endParaRPr sz="22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Falta, na prática, um fluxo estruturado que ligue requisitos 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técnicas de teste → código → integração contínua (CI).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/>
        </p:nvSpPr>
        <p:spPr>
          <a:xfrm>
            <a:off x="921706" y="587175"/>
            <a:ext cx="8752752" cy="554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 do Trabalho</a:t>
            </a: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919480" y="1400810"/>
            <a:ext cx="9426889" cy="4661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Aplicar técnicas de Functional Testing (nominal, boundary value, robustness, worst-case, equivalence class) a um caso real de cálculo de hipoteca.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Identificar e corrigir os 12 defeitos propositais inseridos no código de referência (mortgage_buggy.cpp).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Automatizar a verificação com Google Test e integrar com CI no GitHub (build + testes a cada push/PR).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/>
        </p:nvSpPr>
        <p:spPr>
          <a:xfrm>
            <a:off x="921706" y="587175"/>
            <a:ext cx="8752752" cy="554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Metodologia (E1–E5)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16"/>
          <p:cNvSpPr txBox="1"/>
          <p:nvPr/>
        </p:nvSpPr>
        <p:spPr>
          <a:xfrm>
            <a:off x="919480" y="1400810"/>
            <a:ext cx="9426889" cy="4661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E1 (Requisitos):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Reescrita da especificação ambígua como requisitos verificáveis (R1–R7), tratando o gap da faixa 51–55 anos (feminino).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E2 (Projeto de Testes):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Construção de casos por técnica: nominal, boundary value, robustness, worst-case, equivalence class.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E3 (Diagnóstico):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Localização dos 12 bugs no código original a partir de testes que falham (RED).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E4 (Correção):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Implementação corrigida, com validação de domínio e tratamento explícito do caso-limite.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E5 (Automação):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Testes em Google Test integrados a um workflow de CI no GitHub Actions (build + ctest a cada push/PR).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7"/>
          <p:cNvSpPr txBox="1"/>
          <p:nvPr/>
        </p:nvSpPr>
        <p:spPr>
          <a:xfrm>
            <a:off x="921706" y="587175"/>
            <a:ext cx="8752752" cy="554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alibri"/>
              <a:buNone/>
            </a:pPr>
            <a:r>
              <a:rPr b="1" lang="en-US" sz="30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Técnicas de Teste Aplicadas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7"/>
          <p:cNvSpPr txBox="1"/>
          <p:nvPr/>
        </p:nvSpPr>
        <p:spPr>
          <a:xfrm>
            <a:off x="919480" y="1400810"/>
            <a:ext cx="9426889" cy="466116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12700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Nominal: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seleciona um valor típico dentro da banda. Ex.: NominalMale (idade 40) confirma o fator 55, e passa até no código com bug. Sozinho não detecta muita coisa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Boundary Value: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testa os limites exatos de cada banda. Ex. real: mortgage(Male,18,…) deveria dar fator 75, mas o código com bug (18&lt;age) devolve 30. É o bug B1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Robustness: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valores logo fora do domínio (idade 17/56; salário -1/10001), que deveriam lançar std::out_of_range. O código com bug não valida nada disso (bugs B5 e B12).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Worst-Case: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combina gênero × idade × salário nos extremos para expor falhas de interação; base do StrongRobustEquivalence (R6).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Equivalence Class: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testa um representante de cada faixa etária, incluindo a classe inválida F 51–55 (gap da especificação, R5).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8"/>
          <p:cNvSpPr txBox="1"/>
          <p:nvPr/>
        </p:nvSpPr>
        <p:spPr>
          <a:xfrm>
            <a:off x="781050" y="39401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Os 12 Bugs Plantados  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8"/>
          <p:cNvSpPr txBox="1"/>
          <p:nvPr/>
        </p:nvSpPr>
        <p:spPr>
          <a:xfrm>
            <a:off x="786008" y="1413475"/>
            <a:ext cx="9563100" cy="3609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Bordas estritas (B1, B2, B6, B8):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o código usa &lt; onde devia ser &lt;=. Male,18 → esperado 75000, obtido 30000; Female,30 → esperado 70000, obtido 35000.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Bandas com gap/sobreposição (B3, B4, B9, B10):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banda masculina 32–35 sobreposta; idade 31 (mulher) fica órfã; bandas encurtadas em 39 cortam 40–45 (M) e 40 (F).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Constante errada (B7):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mulher jovem recebe o fator do homem. Female,25 → esperado 70000, obtido 75000.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Sem validação de domínio (B5, B12):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idade e salário fora do range não geram exceção alguma. Não tem nenhuma rejeição implementada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Gap de especificação ignorado (B11):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mulheres 51–55 recebem fator 35 inventado, em vez de serem rejeitadas (R5/R6).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9"/>
          <p:cNvSpPr txBox="1"/>
          <p:nvPr/>
        </p:nvSpPr>
        <p:spPr>
          <a:xfrm>
            <a:off x="781050" y="39401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Evidência de Execução: RED → GREEN 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9"/>
          <p:cNvSpPr txBox="1"/>
          <p:nvPr/>
        </p:nvSpPr>
        <p:spPr>
          <a:xfrm>
            <a:off x="786008" y="1413475"/>
            <a:ext cx="9563100" cy="3609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Suite: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43 casos (7 nominal, 19 boundary, 12 robustness, 5 equivalence class), cada um rastreado a um requisito R1–R7.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RED (linkado a mortgage_buggy.cpp):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17 passam, 26 falham (40%). Ex.: BoundaryMale.R4_MaleAtLowerDomainEdge18, esperado 75000, obtido 30000 (B1).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RED (falha sem número errado):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RobustnessSpecGap.R5R6_FemaleInUndefinedBand: esperava std::out_of_range, mas o código não lança nada (B11).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GREEN (linkado a mortgage.cpp corrigido):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43 de 43 passam (100%). Os 12 bugs plantados estão todos cobertos por pelo menos um teste que falha antes e passa depois.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0"/>
          <p:cNvSpPr txBox="1"/>
          <p:nvPr/>
        </p:nvSpPr>
        <p:spPr>
          <a:xfrm>
            <a:off x="781050" y="394018"/>
            <a:ext cx="9452882" cy="6683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Mutation Testing e Achados Técnicos </a:t>
            </a:r>
            <a:endParaRPr b="1"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20"/>
          <p:cNvSpPr txBox="1"/>
          <p:nvPr/>
        </p:nvSpPr>
        <p:spPr>
          <a:xfrm>
            <a:off x="786008" y="1413475"/>
            <a:ext cx="9563100" cy="36093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Mutation testing: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18 mutantes (cada borda de banda ±1, cada fator ±1, guardas afrouxadas). A suíte matou os 18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Overflow de inteiro descoberto: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INT_MAX × 35 no código com bug estourava um int com -fsanitize=undefined; salário de teste ajustado e sanitizer entrou no CI.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Warnings não chegavam aos testes: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-Wall -Wextra estava PRIVATE na lib; movido para um alvo INTERFACE compartilhado com os testes.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540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b="1"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Decisão de projeto registrada:</a:t>
            </a:r>
            <a:r>
              <a:rPr lang="en-US" sz="22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gênero inválido não é validado. Foi uma decisão deliberada, já que R1/R6 não pedem essa rejeição (isso está documentado no código)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/>
          <p:nvPr/>
        </p:nvSpPr>
        <p:spPr>
          <a:xfrm>
            <a:off x="378912" y="378408"/>
            <a:ext cx="7792422" cy="6489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1"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Resultados Obtidos</a:t>
            </a:r>
            <a:endParaRPr b="1"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21"/>
          <p:cNvSpPr txBox="1"/>
          <p:nvPr/>
        </p:nvSpPr>
        <p:spPr>
          <a:xfrm>
            <a:off x="512384" y="1318444"/>
            <a:ext cx="9997692" cy="3496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 O repositório público </a:t>
            </a: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github.com/ojaneri/ee-mortgate</a:t>
            </a: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 consolida:</a:t>
            </a:r>
            <a:endParaRPr b="1" sz="20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43 casos de teste, 100% verdes contra o código corrigido; 17/43 (40%) contra o código com bug. Os 12 defeitos plantados foram todos capturados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4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2700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Char char="•"/>
            </a:pPr>
            <a:r>
              <a:rPr b="1"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Rastreabilidade completa: cada teste referencia um requisito R1–R7 e cada bug (B1–B12) tem um teste que o expõe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000"/>
              <a:buFont typeface="Arial"/>
              <a:buNone/>
            </a:pPr>
            <a:r>
              <a:rPr lang="en-US" sz="2000">
                <a:solidFill>
                  <a:srgbClr val="212529"/>
                </a:solidFill>
                <a:latin typeface="Arial"/>
                <a:ea typeface="Arial"/>
                <a:cs typeface="Arial"/>
                <a:sym typeface="Arial"/>
              </a:rPr>
              <a:t>Mutation testing (18/18 mortos) e CI no GitHub Actions com build normal + sanitizer, badge verde em main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b="1" sz="20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212529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15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21252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/>
          <p:nvPr/>
        </p:nvSpPr>
        <p:spPr>
          <a:xfrm>
            <a:off x="933450" y="379730"/>
            <a:ext cx="4326890" cy="55499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40000"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Play"/>
              <a:buNone/>
            </a:pPr>
            <a:r>
              <a:rPr b="1" lang="en-US" sz="60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Referências</a:t>
            </a:r>
            <a:endParaRPr/>
          </a:p>
        </p:txBody>
      </p:sp>
      <p:sp>
        <p:nvSpPr>
          <p:cNvPr id="140" name="Google Shape;140;p22"/>
          <p:cNvSpPr txBox="1"/>
          <p:nvPr/>
        </p:nvSpPr>
        <p:spPr>
          <a:xfrm>
            <a:off x="780415" y="1007745"/>
            <a:ext cx="8978900" cy="47002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SANTOS, Max Mauro Dias. Mortgage Testing Lab – Functional Testing: Requirements → Tests → Code → CI. Material de aula, PPGEE UTFPR-PG, 2026.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GOOGLE. GoogleTest User’s Guide.  Disponível em: https://google.github.io/googletest/. 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JANERI FILHO, Osvaldo; KLOSOWSKI JUNIOR, Marcos. ee-mortgate: Mortgage Testing Lab. Repositório de código.  Disponível em: https://github.com/ojaneri/ee-mortgate. 2026.</a:t>
            </a:r>
            <a:endParaRPr/>
          </a:p>
          <a:p>
            <a:pPr indent="-342900" lvl="0" marL="3429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12529"/>
              </a:buClr>
              <a:buSzPts val="2200"/>
              <a:buFont typeface="Arial"/>
              <a:buChar char="•"/>
            </a:pPr>
            <a:r>
              <a:rPr lang="en-US" sz="2200">
                <a:solidFill>
                  <a:srgbClr val="212529"/>
                </a:solidFill>
                <a:latin typeface="Calibri"/>
                <a:ea typeface="Calibri"/>
                <a:cs typeface="Calibri"/>
                <a:sym typeface="Calibri"/>
              </a:rPr>
              <a:t>IEEE STD 830-1998. Recommended Practice for Software Requirements Specifications.  IEEE, 1998.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